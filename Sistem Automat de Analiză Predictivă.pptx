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9" r:id="rId9"/>
    <p:sldId id="273" r:id="rId10"/>
    <p:sldId id="262" r:id="rId11"/>
    <p:sldId id="270" r:id="rId12"/>
    <p:sldId id="264" r:id="rId13"/>
    <p:sldId id="271" r:id="rId14"/>
    <p:sldId id="272" r:id="rId15"/>
    <p:sldId id="265" r:id="rId16"/>
    <p:sldId id="275" r:id="rId17"/>
    <p:sldId id="274" r:id="rId18"/>
    <p:sldId id="267" r:id="rId19"/>
  </p:sldIdLst>
  <p:sldSz cx="12192000" cy="6858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Inter" panose="020B0604020202020204" charset="0"/>
      <p:regular r:id="rId25"/>
      <p:bold r:id="rId26"/>
      <p:italic r:id="rId27"/>
      <p:boldItalic r:id="rId28"/>
    </p:embeddedFont>
    <p:embeddedFont>
      <p:font typeface="Inter SemiBold" panose="020B0604020202020204" charset="0"/>
      <p:regular r:id="rId29"/>
      <p:bold r:id="rId30"/>
      <p:italic r:id="rId31"/>
      <p:boldItalic r:id="rId32"/>
    </p:embeddedFont>
    <p:embeddedFont>
      <p:font typeface="Poppins" panose="000005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3065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7962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71500"/>
            <a:ext cx="4419600" cy="174709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2690068"/>
            <a:ext cx="11601450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 i="0" u="none" strike="noStrike" cap="none" dirty="0">
                <a:solidFill>
                  <a:srgbClr val="0056B3"/>
                </a:solidFill>
                <a:latin typeface="Poppins"/>
                <a:ea typeface="Poppins"/>
                <a:cs typeface="Poppins"/>
                <a:sym typeface="Poppins"/>
              </a:rPr>
              <a:t>Predicting the Virtual Market: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 i="0" u="none" strike="noStrike" cap="none" dirty="0">
                <a:solidFill>
                  <a:srgbClr val="0056B3"/>
                </a:solidFill>
                <a:latin typeface="Poppins"/>
                <a:ea typeface="Poppins"/>
                <a:cs typeface="Poppins"/>
                <a:sym typeface="Poppins"/>
              </a:rPr>
              <a:t>Dezvoltarea unui sistem de analiz</a:t>
            </a:r>
            <a:r>
              <a:rPr lang="ro-RO" sz="4800" b="1" dirty="0">
                <a:solidFill>
                  <a:srgbClr val="0056B3"/>
                </a:solidFill>
                <a:latin typeface="Poppins"/>
                <a:ea typeface="Poppins"/>
                <a:cs typeface="Poppins"/>
                <a:sym typeface="Poppins"/>
              </a:rPr>
              <a:t>ă</a:t>
            </a:r>
            <a:endParaRPr lang="pt-BR" sz="4800" b="1" i="0" u="none" strike="noStrike" cap="none" dirty="0">
              <a:solidFill>
                <a:srgbClr val="0056B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 i="0" u="none" strike="noStrike" cap="none" dirty="0">
                <a:solidFill>
                  <a:srgbClr val="0056B3"/>
                </a:solidFill>
                <a:latin typeface="Poppins"/>
                <a:ea typeface="Poppins"/>
                <a:cs typeface="Poppins"/>
                <a:sym typeface="Poppins"/>
              </a:rPr>
              <a:t>pentru jocul Counter-Strike2</a:t>
            </a:r>
            <a:endParaRPr lang="pt-BR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295900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Inter SemiBold"/>
                <a:ea typeface="Inter SemiBold"/>
                <a:sym typeface="Inter SemiBold"/>
              </a:rPr>
              <a:t>Popa Alex-</a:t>
            </a:r>
            <a:r>
              <a:rPr lang="ro-RO" sz="1500" dirty="0">
                <a:solidFill>
                  <a:srgbClr val="4A5568"/>
                </a:solidFill>
                <a:latin typeface="Inter SemiBold"/>
                <a:ea typeface="Inter SemiBold"/>
                <a:sym typeface="Inter SemiBold"/>
              </a:rPr>
              <a:t>Ștefan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791200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Coordonator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 Lector Dr.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Zsigmond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Imre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295275" y="313208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400" b="1" i="0" u="none" strike="noStrike" cap="none" dirty="0">
                <a:solidFill>
                  <a:srgbClr val="0056B3"/>
                </a:solidFill>
                <a:latin typeface="Poppins"/>
                <a:ea typeface="Poppins"/>
                <a:cs typeface="Poppins"/>
                <a:sym typeface="Poppins"/>
              </a:rPr>
              <a:t>Marketplace CS2</a:t>
            </a:r>
            <a:endParaRPr lang="ro-RO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C60DC0-4249-4471-AED0-340F54723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27" y="1261208"/>
            <a:ext cx="11366146" cy="51395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2F60C-E22A-4A9E-83A0-CBBF5EDDE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39" y="1086615"/>
            <a:ext cx="11528121" cy="56496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07DAD4-DF4E-4286-82D7-8C05A551135B}"/>
              </a:ext>
            </a:extLst>
          </p:cNvPr>
          <p:cNvSpPr txBox="1"/>
          <p:nvPr/>
        </p:nvSpPr>
        <p:spPr>
          <a:xfrm>
            <a:off x="1778695" y="294362"/>
            <a:ext cx="7991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400" b="1" i="0" u="none" strike="noStrike" cap="none" dirty="0">
                <a:solidFill>
                  <a:srgbClr val="0056B3"/>
                </a:solidFill>
                <a:latin typeface="Poppins"/>
                <a:ea typeface="Poppins"/>
                <a:cs typeface="Poppins"/>
                <a:sym typeface="Poppins"/>
              </a:rPr>
              <a:t>ITEM-UL ALES</a:t>
            </a:r>
            <a:endParaRPr lang="ro-RO" sz="5400" dirty="0"/>
          </a:p>
        </p:txBody>
      </p:sp>
    </p:spTree>
    <p:extLst>
      <p:ext uri="{BB962C8B-B14F-4D97-AF65-F5344CB8AC3E}">
        <p14:creationId xmlns:p14="http://schemas.microsoft.com/office/powerpoint/2010/main" val="329389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71625"/>
            <a:ext cx="5238750" cy="471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71625"/>
            <a:ext cx="523875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62025" y="1962150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6B3"/>
                </a:solidFill>
                <a:latin typeface="Poppins"/>
                <a:ea typeface="Poppins"/>
                <a:cs typeface="Poppins"/>
                <a:sym typeface="Poppins"/>
              </a:rPr>
              <a:t>Provocări Actuale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72275" y="1962150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6B3"/>
                </a:solidFill>
                <a:latin typeface="Poppins"/>
                <a:ea typeface="Poppins"/>
                <a:cs typeface="Poppins"/>
                <a:sym typeface="Poppins"/>
              </a:rPr>
              <a:t>Soluția Propusă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047750" y="24288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152525" y="24288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Monitorizarea manuală este ineficientă și predispusă la erori umane.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047750" y="30384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152525" y="30384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Volatilitatea ridicată a prețurilor pe platformele de marketplace (ex. Steam).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47750" y="36480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152525" y="36480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Lipsa instrumentelor de prognoză pentru utilizatorul de rând.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858000" y="24288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962775" y="24288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Arhitectură hibridă: UiPath pentru colectare, Python pentru analiză.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858000" y="30384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962775" y="30384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Algoritmi avansați de Machine Learning pentru predicția tendințelor.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858000" y="36480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962775" y="364807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Interfață Dash pentru vizualizare în timp real.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Problematică și Context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90775"/>
            <a:ext cx="3492549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390775"/>
            <a:ext cx="3492549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390775"/>
            <a:ext cx="3492549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44231" y="3495675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Automatizare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14400" y="4019550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Colectarea 24/7 a datelor fără intervenție umană prin roboți RPA.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622530" y="3495675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Analiză AI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692699" y="4019550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Implementarea modelelor XGBoost și Prophet pentru prognoze precise.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00830" y="3495675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Vizualizare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470999" y="4019550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Crearea unui dashboard interactiv pentru decizii bazate pe date.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17662" y="2771775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875" y="27717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6174" y="27717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Obiectivele Proiectului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3358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6381750" y="2457450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Fluxul de Date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381750" y="292417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Sistemul este compus din trei module interconectate: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629400" y="341947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762750" y="341947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UiPath: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Extracția datelor din browser și salvarea în Excel.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591300" y="402907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762750" y="402907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Python Engine: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Preprocesare, Feature Engineering și Predicție.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591300" y="463867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62750" y="463867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Dash App: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Server web local pentru afișarea rezultatelor dinamice.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Arhitectura Sistemului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1109923" y="1557143"/>
            <a:ext cx="7888396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Robotul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RPA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simulează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comportamentul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uman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pentru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naviga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și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extrage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prețurile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în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timp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real.</a:t>
            </a:r>
            <a:endParaRPr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F028D48-6396-4DA7-B4B8-26606C8712B2}"/>
              </a:ext>
            </a:extLst>
          </p:cNvPr>
          <p:cNvGrpSpPr/>
          <p:nvPr/>
        </p:nvGrpSpPr>
        <p:grpSpPr>
          <a:xfrm>
            <a:off x="1426479" y="3108477"/>
            <a:ext cx="9715421" cy="2540761"/>
            <a:chOff x="620160" y="2657475"/>
            <a:chExt cx="5190090" cy="3202114"/>
          </a:xfrm>
        </p:grpSpPr>
        <p:sp>
          <p:nvSpPr>
            <p:cNvPr id="160" name="Google Shape;160;p18"/>
            <p:cNvSpPr txBox="1"/>
            <p:nvPr/>
          </p:nvSpPr>
          <p:spPr>
            <a:xfrm>
              <a:off x="1000125" y="2657475"/>
              <a:ext cx="4810125" cy="984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Gestionarea</a:t>
              </a:r>
              <a:r>
                <a:rPr lang="en-US" sz="20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elementelor</a:t>
              </a:r>
              <a:r>
                <a:rPr lang="en-US" sz="20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dinamice</a:t>
              </a:r>
              <a:r>
                <a:rPr lang="en-US" sz="20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din </a:t>
              </a:r>
              <a:r>
                <a:rPr lang="en-US" sz="20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pagină</a:t>
              </a:r>
              <a:r>
                <a:rPr lang="en-US" sz="20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lang="ro-RO" sz="20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1000124" y="3692842"/>
              <a:ext cx="4810125" cy="744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Rutine</a:t>
              </a:r>
              <a:r>
                <a:rPr lang="en-US" sz="24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0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de </a:t>
              </a:r>
              <a:r>
                <a:rPr lang="en-US" sz="20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curățare</a:t>
              </a:r>
              <a:r>
                <a:rPr lang="en-US" sz="20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a </a:t>
              </a:r>
              <a:r>
                <a:rPr lang="en-US" sz="20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datelor</a:t>
              </a:r>
              <a:r>
                <a:rPr lang="en-US" sz="20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brute.</a:t>
              </a:r>
              <a:endParaRPr sz="2400" dirty="0"/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1000124" y="4874704"/>
              <a:ext cx="4810125" cy="984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Export </a:t>
              </a:r>
              <a:r>
                <a:rPr lang="en-US" sz="20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automatizat</a:t>
              </a:r>
              <a:r>
                <a:rPr lang="en-US" sz="20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către</a:t>
              </a:r>
              <a:r>
                <a:rPr lang="en-US" sz="20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fișiere</a:t>
              </a:r>
              <a:r>
                <a:rPr lang="en-US" sz="20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Excel </a:t>
              </a:r>
              <a:r>
                <a:rPr lang="en-US" sz="20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securizate</a:t>
              </a:r>
              <a:r>
                <a:rPr lang="en-US" sz="20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2000" dirty="0"/>
            </a:p>
          </p:txBody>
        </p:sp>
        <p:pic>
          <p:nvPicPr>
            <p:cNvPr id="163" name="Google Shape;163;p18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20160" y="2858211"/>
              <a:ext cx="179940" cy="3788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18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20160" y="3964679"/>
              <a:ext cx="179940" cy="3788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8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20160" y="5041650"/>
              <a:ext cx="179940" cy="3788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Faza I: Colectarea Datelor (UiPath)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18BA38-2279-48D7-B803-7611058CF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66" y="503574"/>
            <a:ext cx="9814144" cy="557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11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59F9261-723B-4D1D-8E01-4E6CF43F7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648" y="281835"/>
            <a:ext cx="7544703" cy="629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63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/>
        </p:nvSpPr>
        <p:spPr>
          <a:xfrm>
            <a:off x="762000" y="5715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Faza II: Analiza AI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4455873" y="1427034"/>
            <a:ext cx="32802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Modelul</a:t>
            </a:r>
            <a:r>
              <a:rPr lang="en-US" sz="2400" b="1" i="0" u="none" strike="noStrike" cap="none" dirty="0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400" b="1" i="0" u="none" strike="noStrike" cap="none" dirty="0" err="1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Predicție</a:t>
            </a:r>
            <a:endParaRPr sz="2400"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571499" y="2038350"/>
            <a:ext cx="1110902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Am </a:t>
            </a:r>
            <a:r>
              <a:rPr lang="en-US" sz="20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utilizat</a:t>
            </a:r>
            <a:r>
              <a:rPr lang="en-US" sz="20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algoritmi</a:t>
            </a:r>
            <a:r>
              <a:rPr lang="en-US" sz="20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de Time Series Forecasting </a:t>
            </a:r>
            <a:r>
              <a:rPr lang="en-US" sz="20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pentru</a:t>
            </a:r>
            <a:r>
              <a:rPr lang="en-US" sz="20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20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anticipa</a:t>
            </a:r>
            <a:r>
              <a:rPr lang="en-US" sz="20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evoluția</a:t>
            </a:r>
            <a:r>
              <a:rPr lang="en-US" sz="20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prețurilor</a:t>
            </a:r>
            <a:r>
              <a:rPr lang="en-US" sz="20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/>
          </a:p>
        </p:txBody>
      </p:sp>
      <p:sp>
        <p:nvSpPr>
          <p:cNvPr id="177" name="Google Shape;177;p19"/>
          <p:cNvSpPr txBox="1"/>
          <p:nvPr/>
        </p:nvSpPr>
        <p:spPr>
          <a:xfrm>
            <a:off x="1468155" y="3054613"/>
            <a:ext cx="10882508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r>
              <a:rPr lang="en-US" sz="1800" b="1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Excelent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pentru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captarea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corelațiilor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între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caracteristici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 dirty="0"/>
          </a:p>
        </p:txBody>
      </p:sp>
      <p:sp>
        <p:nvSpPr>
          <p:cNvPr id="178" name="Google Shape;178;p19"/>
          <p:cNvSpPr txBox="1"/>
          <p:nvPr/>
        </p:nvSpPr>
        <p:spPr>
          <a:xfrm>
            <a:off x="1424314" y="4021631"/>
            <a:ext cx="112269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Prophet: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Utilizat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pentru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gestionarea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sezonalității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și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8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tendințelor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pe termen lung.</a:t>
            </a:r>
            <a:endParaRPr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B4AD95-420E-4BDD-A7CA-D8E69BDDE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00" y="413358"/>
            <a:ext cx="11668466" cy="603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378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/>
        </p:nvSpPr>
        <p:spPr>
          <a:xfrm>
            <a:off x="4734577" y="1485900"/>
            <a:ext cx="26182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User Experience</a:t>
            </a:r>
            <a:endParaRPr sz="2000" dirty="0"/>
          </a:p>
        </p:txBody>
      </p:sp>
      <p:sp>
        <p:nvSpPr>
          <p:cNvPr id="198" name="Google Shape;198;p21"/>
          <p:cNvSpPr txBox="1"/>
          <p:nvPr/>
        </p:nvSpPr>
        <p:spPr>
          <a:xfrm>
            <a:off x="762000" y="2150806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Dashboard-ul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oferă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perspectivă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clară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asupra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datelor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colectate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40543A0-47E0-465E-B82B-AE3524EEA4FF}"/>
              </a:ext>
            </a:extLst>
          </p:cNvPr>
          <p:cNvGrpSpPr/>
          <p:nvPr/>
        </p:nvGrpSpPr>
        <p:grpSpPr>
          <a:xfrm>
            <a:off x="3217394" y="3366371"/>
            <a:ext cx="6490636" cy="2276760"/>
            <a:chOff x="6381750" y="2838450"/>
            <a:chExt cx="5238750" cy="1694387"/>
          </a:xfrm>
        </p:grpSpPr>
        <p:sp>
          <p:nvSpPr>
            <p:cNvPr id="199" name="Google Shape;199;p21"/>
            <p:cNvSpPr txBox="1"/>
            <p:nvPr/>
          </p:nvSpPr>
          <p:spPr>
            <a:xfrm>
              <a:off x="6810375" y="2838450"/>
              <a:ext cx="4810125" cy="3298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Grafice</a:t>
              </a:r>
              <a:r>
                <a:rPr lang="en-US" sz="18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interactive cu </a:t>
              </a:r>
              <a:r>
                <a:rPr lang="en-US" sz="18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Plotly</a:t>
              </a:r>
              <a:r>
                <a:rPr lang="en-US" sz="18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800" dirty="0"/>
            </a:p>
          </p:txBody>
        </p:sp>
        <p:sp>
          <p:nvSpPr>
            <p:cNvPr id="200" name="Google Shape;200;p21"/>
            <p:cNvSpPr txBox="1"/>
            <p:nvPr/>
          </p:nvSpPr>
          <p:spPr>
            <a:xfrm>
              <a:off x="6810375" y="3368859"/>
              <a:ext cx="4810125" cy="659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Tabele</a:t>
              </a:r>
              <a:r>
                <a:rPr lang="en-US" sz="18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de </a:t>
              </a:r>
              <a:r>
                <a:rPr lang="en-US" sz="18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comparație</a:t>
              </a:r>
              <a:r>
                <a:rPr lang="en-US" sz="18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între</a:t>
              </a:r>
              <a:r>
                <a:rPr lang="en-US" sz="18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valoarea</a:t>
              </a:r>
              <a:r>
                <a:rPr lang="en-US" sz="18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reală</a:t>
              </a:r>
              <a:r>
                <a:rPr lang="en-US" sz="18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și</a:t>
              </a:r>
              <a:r>
                <a:rPr lang="en-US" sz="18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cea</a:t>
              </a:r>
              <a:r>
                <a:rPr lang="en-US" sz="18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prezisă</a:t>
              </a:r>
              <a:r>
                <a:rPr lang="en-US" sz="18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800" dirty="0"/>
            </a:p>
          </p:txBody>
        </p:sp>
        <p:sp>
          <p:nvSpPr>
            <p:cNvPr id="201" name="Google Shape;201;p21"/>
            <p:cNvSpPr txBox="1"/>
            <p:nvPr/>
          </p:nvSpPr>
          <p:spPr>
            <a:xfrm>
              <a:off x="6810375" y="4203005"/>
              <a:ext cx="4810125" cy="3298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Actualizare</a:t>
              </a:r>
              <a:r>
                <a:rPr lang="en-US" sz="18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automată</a:t>
              </a:r>
              <a:r>
                <a:rPr lang="en-US" sz="18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la </a:t>
              </a:r>
              <a:r>
                <a:rPr lang="en-US" sz="18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intervale</a:t>
              </a:r>
              <a:r>
                <a:rPr lang="en-US" sz="18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predefinite</a:t>
              </a:r>
              <a:r>
                <a:rPr lang="en-US" sz="1800" b="0" i="0" u="none" strike="noStrike" cap="none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800" dirty="0"/>
            </a:p>
          </p:txBody>
        </p:sp>
        <p:pic>
          <p:nvPicPr>
            <p:cNvPr id="202" name="Google Shape;202;p21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81750" y="2876550"/>
              <a:ext cx="228600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1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381750" y="3419475"/>
              <a:ext cx="228600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2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81750" y="4267200"/>
              <a:ext cx="228600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Interfața de Vizualizare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B1C936-12D3-4860-886A-4D508AF87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69" y="845506"/>
            <a:ext cx="10998862" cy="516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862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A15E60-9F97-4EDC-893E-5C3A4CA2D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430" y="413417"/>
            <a:ext cx="7645140" cy="603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0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Analiza</a:t>
            </a:r>
            <a:r>
              <a:rPr lang="en-US" sz="3300" b="1" i="0" u="none" strike="noStrike" cap="none" dirty="0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ro-RO" sz="3300" b="1" dirty="0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Predicției</a:t>
            </a:r>
            <a:endParaRPr dirty="0"/>
          </a:p>
        </p:txBody>
      </p:sp>
      <p:sp>
        <p:nvSpPr>
          <p:cNvPr id="214" name="Google Shape;214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E7FBFD-56F5-4B89-BBEC-38C81EC71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932" y="1490091"/>
            <a:ext cx="3482121" cy="38778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FC486D-BC0C-40F9-8A7C-794CD2E98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19936"/>
            <a:ext cx="6543140" cy="24591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Analiza</a:t>
            </a:r>
            <a:r>
              <a:rPr lang="en-US" sz="3300" b="1" i="0" u="none" strike="noStrike" cap="none" dirty="0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00" b="1" dirty="0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Case Simulator</a:t>
            </a:r>
            <a:endParaRPr dirty="0"/>
          </a:p>
        </p:txBody>
      </p:sp>
      <p:sp>
        <p:nvSpPr>
          <p:cNvPr id="214" name="Google Shape;214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4AE5FB-7672-4634-99E4-19A595F5A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79331"/>
            <a:ext cx="4248411" cy="56934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50C4EC-8B7B-4BB6-95C2-FECD7A1AB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215" y="1079331"/>
            <a:ext cx="4285557" cy="569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402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Marketplace</a:t>
            </a:r>
            <a:endParaRPr dirty="0"/>
          </a:p>
        </p:txBody>
      </p:sp>
      <p:sp>
        <p:nvSpPr>
          <p:cNvPr id="214" name="Google Shape;214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5783F1-9E70-48D2-978E-541913826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505" y="235864"/>
            <a:ext cx="4918618" cy="638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692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/>
        </p:nvSpPr>
        <p:spPr>
          <a:xfrm>
            <a:off x="295275" y="1732536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0056B3"/>
                </a:solidFill>
                <a:latin typeface="Poppins"/>
                <a:ea typeface="Poppins"/>
                <a:cs typeface="Poppins"/>
                <a:sym typeface="Poppins"/>
              </a:rPr>
              <a:t>Vă</a:t>
            </a:r>
            <a:r>
              <a:rPr lang="en-US" sz="6000" b="1" i="0" u="none" strike="noStrike" cap="none" dirty="0">
                <a:solidFill>
                  <a:srgbClr val="0056B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6000" b="1" i="0" u="none" strike="noStrike" cap="none" dirty="0" err="1">
                <a:solidFill>
                  <a:srgbClr val="0056B3"/>
                </a:solidFill>
                <a:latin typeface="Poppins"/>
                <a:ea typeface="Poppins"/>
                <a:cs typeface="Poppins"/>
                <a:sym typeface="Poppins"/>
              </a:rPr>
              <a:t>mulțumesc</a:t>
            </a:r>
            <a:r>
              <a:rPr lang="en-US" sz="6000" b="1" i="0" u="none" strike="noStrike" cap="none" dirty="0">
                <a:solidFill>
                  <a:srgbClr val="0056B3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endParaRPr dirty="0"/>
          </a:p>
        </p:txBody>
      </p:sp>
      <p:sp>
        <p:nvSpPr>
          <p:cNvPr id="239" name="Google Shape;239;p24"/>
          <p:cNvSpPr txBox="1"/>
          <p:nvPr/>
        </p:nvSpPr>
        <p:spPr>
          <a:xfrm>
            <a:off x="571500" y="3258402"/>
            <a:ext cx="110490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Întrebări</a:t>
            </a:r>
            <a:endParaRPr dirty="0"/>
          </a:p>
        </p:txBody>
      </p:sp>
      <p:sp>
        <p:nvSpPr>
          <p:cNvPr id="240" name="Google Shape;240;p24"/>
          <p:cNvSpPr/>
          <p:nvPr/>
        </p:nvSpPr>
        <p:spPr>
          <a:xfrm>
            <a:off x="5143500" y="4063060"/>
            <a:ext cx="1905000" cy="381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571500" y="4679865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500" b="0" i="0" u="none" strike="noStrike" cap="non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Popa Alex-Ștefan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321</Words>
  <Application>Microsoft Office PowerPoint</Application>
  <PresentationFormat>Widescreen</PresentationFormat>
  <Paragraphs>60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Inter</vt:lpstr>
      <vt:lpstr>Poppins</vt:lpstr>
      <vt:lpstr>Calibri</vt:lpstr>
      <vt:lpstr>Inter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Popa Alex-Stefan</cp:lastModifiedBy>
  <cp:revision>17</cp:revision>
  <dcterms:modified xsi:type="dcterms:W3CDTF">2026-06-30T20:08:16Z</dcterms:modified>
</cp:coreProperties>
</file>